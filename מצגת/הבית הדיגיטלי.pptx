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סגנון ביניים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0C5E7FE-4783-4E98-B17C-FDEC00E9C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0419" y="0"/>
            <a:ext cx="7421581" cy="2125492"/>
          </a:xfrm>
        </p:spPr>
        <p:txBody>
          <a:bodyPr>
            <a:normAutofit/>
          </a:bodyPr>
          <a:lstStyle/>
          <a:p>
            <a:r>
              <a:rPr lang="he-IL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הבית הדיגיטלי</a:t>
            </a:r>
            <a:br>
              <a:rPr lang="he-IL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he-IL" sz="2200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הבית הדיגיטלי הוא פלטפורמה המרכזת את הגישה לכל השירותים הדיגיטליים במקום אחד, באמצעות המחשב.</a:t>
            </a:r>
            <a:endParaRPr lang="he-IL" sz="1700" dirty="0">
              <a:solidFill>
                <a:schemeClr val="tx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27863E2-9984-4F17-828E-53FF7480F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505" y="3764605"/>
            <a:ext cx="9980545" cy="2125491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he-IL" sz="26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המערכת מיועדת לאנשים פרטיים, המעוניינים לנהל בצורה פשוטה ומאובטחת את החשבונות והשירותים הדיגיטליים שלהם</a:t>
            </a:r>
            <a:br>
              <a:rPr lang="en-US" sz="26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he-IL" sz="26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וכן לבעלי מקצוע, כגון יועצי מס, רואי חשבון, מנהלי חשבונות ועצמאיים, המנהלים גישה למספר רב של שירותים עבור לקוחותיהם.</a:t>
            </a:r>
          </a:p>
          <a:p>
            <a:pPr algn="r"/>
            <a:r>
              <a:rPr lang="he-IL" sz="26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הבית הדיגיטלי מאפשר גישה מהירה, מאורגנת ומאובטחת לשירותים הדיגיטליים – ממשק אחד, המותאם לעבודה יומיומית מהמחשב.</a:t>
            </a:r>
          </a:p>
          <a:p>
            <a:pPr algn="r"/>
            <a:endParaRPr lang="he-IL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044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0C5E7FE-4783-4E98-B17C-FDEC00E9C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5790" y="1395921"/>
            <a:ext cx="7421581" cy="1079770"/>
          </a:xfrm>
        </p:spPr>
        <p:txBody>
          <a:bodyPr>
            <a:normAutofit/>
          </a:bodyPr>
          <a:lstStyle/>
          <a:p>
            <a:br>
              <a:rPr lang="en-US" sz="2200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he-IL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האתגר בעולם הדיגיטלי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D021CE8-9D9B-495A-940E-96ED8DF61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82" y="3117037"/>
            <a:ext cx="11955294" cy="3196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algn="r" defTabSz="914400" rt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he-IL" altLang="he-IL" sz="2000" cap="all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ריבוי אתרים, שירותים ואזורים אישיים. </a:t>
            </a:r>
          </a:p>
          <a:p>
            <a:pPr marL="800100" lvl="1" indent="-342900" algn="r" defTabSz="914400" rt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he-IL" altLang="he-IL" sz="2000" cap="all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הצורך לזכור לאיזה אתר להיכנס, עם אילו פרטי התחברות ובאיזה סדר לבצע פעולות. </a:t>
            </a:r>
          </a:p>
          <a:p>
            <a:pPr marL="800100" lvl="1" indent="-342900" algn="r" defTabSz="914400" rt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he-IL" altLang="he-IL" sz="2000" cap="all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מעבר תכוף בין אתרים שונים.</a:t>
            </a:r>
          </a:p>
          <a:p>
            <a:pPr marL="800100" lvl="1" indent="-342900" algn="r" defTabSz="914400" rt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he-IL" altLang="he-IL" sz="2000" cap="all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ניהול מספר רב של שירותים עבור בני משפחה או עבור לקוחות.</a:t>
            </a:r>
          </a:p>
          <a:p>
            <a:pPr marL="800100" lvl="1" indent="-342900" algn="r" defTabSz="914400" rt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he-IL" altLang="he-IL" sz="2000" cap="all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בעלי מקצוע, כגון יועצי מס, רואי חשבון ומנהלי חשבונות, נדרשים לעבור בין עשרות ולעיתים מאות אזורים אישיים של לקוחות במהלך יום העבודה. </a:t>
            </a:r>
          </a:p>
          <a:p>
            <a:pPr marL="800100" lvl="1" indent="-342900" algn="r" defTabSz="914400" rt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he-IL" altLang="he-IL" sz="2000" cap="all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ככל שמספר השירותים והלקוחות גדל, כך גדלים גם המורכבות, הסיכון לטעויות והזמן המושקע בניהול הגישה אליהם. </a:t>
            </a:r>
          </a:p>
          <a:p>
            <a:pPr marL="800100" lvl="1" indent="-342900" algn="r" defTabSz="914400" rt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he-IL" altLang="he-IL" sz="2000" cap="all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העולם הדיגיטלי מציע יותר שירותים מאי פעם – אך ניהול הגישה אליהם הפך למורכב, מפוזר ולא יעיל</a:t>
            </a:r>
            <a:r>
              <a:rPr kumimoji="0" lang="he-IL" altLang="he-I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he-IL" altLang="he-I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DF8A58AB-454E-446B-B769-EDED980AD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3191" y="155642"/>
            <a:ext cx="6055468" cy="403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080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0C5E7FE-4783-4E98-B17C-FDEC00E9C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8732" y="676073"/>
            <a:ext cx="7421581" cy="2125492"/>
          </a:xfrm>
        </p:spPr>
        <p:txBody>
          <a:bodyPr>
            <a:normAutofit/>
          </a:bodyPr>
          <a:lstStyle/>
          <a:p>
            <a:r>
              <a:rPr lang="he-IL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הבית הדיגיטלי - הפתרון</a:t>
            </a:r>
            <a:br>
              <a:rPr lang="he-IL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he-IL" sz="1700" dirty="0">
              <a:solidFill>
                <a:schemeClr val="tx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27863E2-9984-4F17-828E-53FF7480F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9377" y="3669760"/>
            <a:ext cx="9980545" cy="2125491"/>
          </a:xfrm>
        </p:spPr>
        <p:txBody>
          <a:bodyPr>
            <a:noAutofit/>
          </a:bodyPr>
          <a:lstStyle/>
          <a:p>
            <a:pPr marL="342900" marR="0" lvl="0" indent="-34290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he-IL" sz="20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מאפשר גישה מהירה, מאורגנת ומאובטחת לשירותים הדיגיטליים – ממשק אחד המותאם לעבודה יומיומית מהמחשב.</a:t>
            </a:r>
            <a:br>
              <a:rPr lang="en-US" sz="20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he-IL" altLang="he-IL" sz="20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מרכז את כל השירותים הדיגיטליים במקום אחד, מממשק עבודה אחיד. </a:t>
            </a:r>
          </a:p>
          <a:p>
            <a:pPr marL="342900" marR="0" lvl="0" indent="-34290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he-IL" altLang="he-IL" sz="20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מאפשר גישה מהירה ומסודרת לשירותים ולאזורים האישיים השונים. </a:t>
            </a:r>
          </a:p>
          <a:p>
            <a:pPr marL="342900" marR="0" lvl="0" indent="-34290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he-IL" altLang="he-IL" sz="20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מפשט את ניהול השירותים עבור משתמשים פרטיים ובעלי מקצוע כאחד. </a:t>
            </a:r>
          </a:p>
          <a:p>
            <a:pPr marL="342900" marR="0" lvl="0" indent="-34290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he-IL" altLang="he-IL" sz="20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מסייע בניהול גישה למספר רב של לקוחות ושירותים בצורה מאורגנת ויעילה. </a:t>
            </a:r>
          </a:p>
          <a:p>
            <a:pPr marL="342900" marR="0" lvl="0" indent="-34290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he-IL" altLang="he-IL" sz="20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מפחית את הזמן המושקע בחיפוש, מעבר בין אתרים וניהול פרטי גישה. </a:t>
            </a:r>
          </a:p>
          <a:p>
            <a:pPr marL="342900" marR="0" lvl="0" indent="-34290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he-IL" altLang="he-IL" sz="20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מספק סביבת עבודה מאובטחת, נוחה ומותאמת לעבודה יומיומית מהמחשב. </a:t>
            </a:r>
          </a:p>
          <a:p>
            <a:pPr marL="342900" marR="0" lvl="0" indent="-34290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he-IL" altLang="he-IL" sz="20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מקום אחד. גישה אחת. כל השירותים הדיגיטליים שלכם.</a:t>
            </a:r>
            <a:br>
              <a:rPr lang="en-US" sz="20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endParaRPr lang="he-IL" sz="2000" dirty="0">
              <a:solidFill>
                <a:schemeClr val="tx2">
                  <a:lumMod val="75000"/>
                </a:schemeClr>
              </a:solidFill>
              <a:latin typeface="Segoe UI" panose="020B0502040204020203" pitchFamily="34" charset="0"/>
              <a:ea typeface="+mj-ea"/>
              <a:cs typeface="Segoe UI" panose="020B0502040204020203" pitchFamily="34" charset="0"/>
            </a:endParaRPr>
          </a:p>
          <a:p>
            <a:pPr marL="342900" indent="-342900" algn="r">
              <a:buFont typeface="Wingdings" panose="05000000000000000000" pitchFamily="2" charset="2"/>
              <a:buChar char="ü"/>
            </a:pPr>
            <a:endParaRPr lang="he-IL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61D59543-D1AD-401D-B5BE-143C27374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5143501" cy="3429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26428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0C5E7FE-4783-4E98-B17C-FDEC00E9C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8732" y="676073"/>
            <a:ext cx="7421581" cy="2125492"/>
          </a:xfrm>
        </p:spPr>
        <p:txBody>
          <a:bodyPr>
            <a:normAutofit/>
          </a:bodyPr>
          <a:lstStyle/>
          <a:p>
            <a:r>
              <a:rPr lang="he-IL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הבית הדיגיטלי - אבטחה</a:t>
            </a:r>
            <a:br>
              <a:rPr lang="he-IL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he-IL" sz="1700" dirty="0">
              <a:solidFill>
                <a:schemeClr val="tx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27863E2-9984-4F17-828E-53FF7480F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558" y="3193104"/>
            <a:ext cx="11566186" cy="2125491"/>
          </a:xfrm>
        </p:spPr>
        <p:txBody>
          <a:bodyPr>
            <a:noAutofit/>
          </a:bodyPr>
          <a:lstStyle/>
          <a:p>
            <a:pPr marR="0" lvl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he-IL" altLang="he-IL" sz="20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🔒 מידע רגיש נשמר בצורה מוצפנת ומאובטחת. </a:t>
            </a:r>
          </a:p>
          <a:p>
            <a:pPr marL="0" marR="0" lvl="0" indent="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🔑 סיסמאות אינן נשמרות כטקסט גלוי במסד הנתונים. </a:t>
            </a:r>
          </a:p>
          <a:p>
            <a:pPr marL="0" marR="0" lvl="0" indent="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🛡️ גם במקרה של גישה למסד הנתונים, המידע הרגיש אינו נגיש ללא מנגנוני האימות וההצפנה המתאימים. </a:t>
            </a:r>
          </a:p>
          <a:p>
            <a:pPr marL="0" marR="0" lvl="0" indent="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🌐 כל התקשורת בין המחשב לשרת מתבצעת באמצעות חיבור מאובטח (HTTPS/TLS). </a:t>
            </a:r>
          </a:p>
          <a:p>
            <a:pPr marL="0" marR="0" lvl="0" indent="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🏗️ המערכת תוכננה בהתאם לעקרונות של </a:t>
            </a: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Security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by</a:t>
            </a:r>
            <a:r>
              <a:rPr kumimoji="0" lang="he-IL" altLang="he-IL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he-IL" altLang="he-IL" sz="20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Design</a:t>
            </a: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תוך הפרדה בין נתוני משתמש ומידע רגיש. </a:t>
            </a:r>
          </a:p>
          <a:p>
            <a:pPr marR="0" lvl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lang="en-US" altLang="he-IL" sz="20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br>
              <a:rPr lang="en-US" sz="20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endParaRPr lang="he-IL" sz="2000" dirty="0">
              <a:solidFill>
                <a:schemeClr val="tx2">
                  <a:lumMod val="75000"/>
                </a:schemeClr>
              </a:solidFill>
              <a:latin typeface="Segoe UI" panose="020B0502040204020203" pitchFamily="34" charset="0"/>
              <a:ea typeface="+mj-ea"/>
              <a:cs typeface="Segoe UI" panose="020B0502040204020203" pitchFamily="34" charset="0"/>
            </a:endParaRPr>
          </a:p>
          <a:p>
            <a:pPr algn="r"/>
            <a:endParaRPr lang="he-IL" sz="2000" dirty="0">
              <a:solidFill>
                <a:schemeClr val="tx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E920CC1C-4994-48B3-A8EC-D41B5BCAA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5951" y="-184827"/>
            <a:ext cx="7266564" cy="484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07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0C5E7FE-4783-4E98-B17C-FDEC00E9C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8732" y="676073"/>
            <a:ext cx="7421581" cy="2125492"/>
          </a:xfrm>
        </p:spPr>
        <p:txBody>
          <a:bodyPr>
            <a:normAutofit/>
          </a:bodyPr>
          <a:lstStyle/>
          <a:p>
            <a:r>
              <a:rPr lang="he-IL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למי מיועד הבית הדיגיטלי?</a:t>
            </a:r>
            <a:br>
              <a:rPr lang="he-IL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he-IL" sz="1700" dirty="0">
              <a:solidFill>
                <a:schemeClr val="tx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27863E2-9984-4F17-828E-53FF7480F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564206" y="2672673"/>
            <a:ext cx="12548058" cy="3679488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</a:pPr>
            <a:r>
              <a:rPr lang="he-IL" sz="2000" b="1" dirty="0">
                <a:solidFill>
                  <a:schemeClr val="tx2">
                    <a:lumMod val="75000"/>
                  </a:schemeClr>
                </a:solidFill>
              </a:rPr>
              <a:t>משתמשים פרטיים</a:t>
            </a:r>
          </a:p>
          <a:p>
            <a:pPr marL="342900" indent="-342900" algn="r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he-IL" sz="2000" dirty="0">
                <a:solidFill>
                  <a:schemeClr val="tx2">
                    <a:lumMod val="75000"/>
                  </a:schemeClr>
                </a:solidFill>
              </a:rPr>
              <a:t>מנהלים את החשבונות והשירותים האישיים שלהם מהמחשב. </a:t>
            </a:r>
          </a:p>
          <a:p>
            <a:pPr marL="342900" indent="-342900" algn="r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he-IL" sz="2000" dirty="0">
                <a:solidFill>
                  <a:schemeClr val="tx2">
                    <a:lumMod val="75000"/>
                  </a:schemeClr>
                </a:solidFill>
              </a:rPr>
              <a:t>מבצעים באופן קבוע פעולות באתרי בנקים, קופות חולים, רשויות, ביטוחים ושירותים נוספים. </a:t>
            </a:r>
          </a:p>
          <a:p>
            <a:pPr algn="r">
              <a:lnSpc>
                <a:spcPct val="100000"/>
              </a:lnSpc>
            </a:pPr>
            <a:r>
              <a:rPr lang="he-IL" sz="2000" b="1" dirty="0">
                <a:solidFill>
                  <a:schemeClr val="tx2">
                    <a:lumMod val="75000"/>
                  </a:schemeClr>
                </a:solidFill>
              </a:rPr>
              <a:t>בעלי מקצוע</a:t>
            </a:r>
          </a:p>
          <a:p>
            <a:pPr marL="342900" indent="-342900" algn="r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he-IL" sz="2000" dirty="0">
                <a:solidFill>
                  <a:schemeClr val="tx2">
                    <a:lumMod val="75000"/>
                  </a:schemeClr>
                </a:solidFill>
              </a:rPr>
              <a:t>יועצי מס, רואי חשבון, מנהלי חשבונות ועצמאיים. </a:t>
            </a:r>
          </a:p>
          <a:p>
            <a:pPr marL="342900" indent="-342900" algn="r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he-IL" sz="2000" dirty="0">
                <a:solidFill>
                  <a:schemeClr val="tx2">
                    <a:lumMod val="75000"/>
                  </a:schemeClr>
                </a:solidFill>
              </a:rPr>
              <a:t>מנהלים גישה לעשרות ואף מאות אזורים אישיים של לקוחות. </a:t>
            </a:r>
          </a:p>
          <a:p>
            <a:pPr marL="342900" indent="-342900" algn="r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he-IL" sz="2000" dirty="0">
                <a:solidFill>
                  <a:schemeClr val="tx2">
                    <a:lumMod val="75000"/>
                  </a:schemeClr>
                </a:solidFill>
              </a:rPr>
              <a:t>זקוקים למעבר מהיר, מסודר ויעיל בין שירותים ולקוחות במהלך יום העבודה.</a:t>
            </a:r>
            <a:br>
              <a:rPr lang="en-US" sz="2000" dirty="0">
                <a:solidFill>
                  <a:schemeClr val="tx2">
                    <a:lumMod val="75000"/>
                  </a:schemeClr>
                </a:solidFill>
              </a:rPr>
            </a:br>
            <a:endParaRPr lang="he-IL" sz="2000" dirty="0">
              <a:solidFill>
                <a:schemeClr val="tx2">
                  <a:lumMod val="75000"/>
                </a:schemeClr>
              </a:solidFill>
            </a:endParaRPr>
          </a:p>
          <a:p>
            <a:pPr algn="r">
              <a:lnSpc>
                <a:spcPct val="100000"/>
              </a:lnSpc>
            </a:pPr>
            <a:r>
              <a:rPr lang="he-IL" b="1" dirty="0">
                <a:solidFill>
                  <a:schemeClr val="tx2">
                    <a:lumMod val="75000"/>
                  </a:schemeClr>
                </a:solidFill>
              </a:rPr>
              <a:t>הבית הדיגיטלי תוכנן עבור מי שהמחשב הוא סביבת העבודה המרכזית שלו בניהול החיים הדיגיטליים.</a:t>
            </a:r>
          </a:p>
          <a:p>
            <a:pPr algn="r">
              <a:lnSpc>
                <a:spcPct val="100000"/>
              </a:lnSpc>
            </a:pPr>
            <a:endParaRPr lang="he-IL" sz="2000" dirty="0">
              <a:solidFill>
                <a:schemeClr val="tx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5" name="תמונה 14">
            <a:extLst>
              <a:ext uri="{FF2B5EF4-FFF2-40B4-BE49-F238E27FC236}">
                <a16:creationId xmlns:a16="http://schemas.microsoft.com/office/drawing/2014/main" id="{579E16D3-C907-47AC-AEF9-73C32BFCF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13"/>
            <a:ext cx="4860791" cy="32405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9707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0C5E7FE-4783-4E98-B17C-FDEC00E9C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5540" y="243191"/>
            <a:ext cx="7421581" cy="1128408"/>
          </a:xfrm>
        </p:spPr>
        <p:txBody>
          <a:bodyPr>
            <a:normAutofit/>
          </a:bodyPr>
          <a:lstStyle/>
          <a:p>
            <a:r>
              <a:rPr lang="he-IL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פאזות עיקריות בפיתוח</a:t>
            </a:r>
            <a:endParaRPr lang="he-IL" sz="1700" dirty="0">
              <a:solidFill>
                <a:schemeClr val="tx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73375BB1-7E5F-4EDF-8388-035A2EBDC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154976"/>
              </p:ext>
            </p:extLst>
          </p:nvPr>
        </p:nvGraphicFramePr>
        <p:xfrm>
          <a:off x="6397557" y="1682455"/>
          <a:ext cx="3931958" cy="349877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931958">
                  <a:extLst>
                    <a:ext uri="{9D8B030D-6E8A-4147-A177-3AD203B41FA5}">
                      <a16:colId xmlns:a16="http://schemas.microsoft.com/office/drawing/2014/main" val="2323963432"/>
                    </a:ext>
                  </a:extLst>
                </a:gridCol>
              </a:tblGrid>
              <a:tr h="25963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b="1" u="sng" dirty="0">
                          <a:solidFill>
                            <a:schemeClr val="tx2"/>
                          </a:solidFill>
                        </a:rPr>
                        <a:t>פאזה</a:t>
                      </a:r>
                      <a:endParaRPr lang="he-IL" sz="1400" b="1" u="sng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67525248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b="1" dirty="0">
                          <a:solidFill>
                            <a:schemeClr val="tx2"/>
                          </a:solidFill>
                        </a:rPr>
                        <a:t>שלב 1 – תשתית המערכת</a:t>
                      </a:r>
                      <a:endParaRPr lang="he-IL" sz="14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723665295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b="1">
                          <a:solidFill>
                            <a:schemeClr val="tx2"/>
                          </a:solidFill>
                        </a:rPr>
                        <a:t>שלב 2 – כספת דיגיטלית</a:t>
                      </a:r>
                      <a:endParaRPr lang="he-IL" sz="140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13948613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b="1">
                          <a:solidFill>
                            <a:schemeClr val="tx2"/>
                          </a:solidFill>
                        </a:rPr>
                        <a:t>שלב 3 – ניהול שירותים</a:t>
                      </a:r>
                      <a:endParaRPr lang="he-IL" sz="140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70750073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b="1">
                          <a:solidFill>
                            <a:schemeClr val="tx2"/>
                          </a:solidFill>
                        </a:rPr>
                        <a:t>שלב 4 – ניהול קטגוריות</a:t>
                      </a:r>
                      <a:endParaRPr lang="he-IL" sz="140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617233074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b="1">
                          <a:solidFill>
                            <a:schemeClr val="tx2"/>
                          </a:solidFill>
                        </a:rPr>
                        <a:t>שלב 5 – מנוע פתיחת שירותים</a:t>
                      </a:r>
                      <a:endParaRPr lang="he-IL" sz="140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39622655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b="1" dirty="0">
                          <a:solidFill>
                            <a:schemeClr val="tx2"/>
                          </a:solidFill>
                        </a:rPr>
                        <a:t>שלב 6 – התחברות אוטומטית</a:t>
                      </a:r>
                      <a:endParaRPr lang="he-IL" sz="14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08107118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b="1" dirty="0">
                          <a:solidFill>
                            <a:schemeClr val="tx2"/>
                          </a:solidFill>
                        </a:rPr>
                        <a:t>שלב 7 – ממשק ניהול</a:t>
                      </a:r>
                      <a:endParaRPr lang="he-IL" sz="14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87938889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b="1">
                          <a:solidFill>
                            <a:schemeClr val="tx2"/>
                          </a:solidFill>
                        </a:rPr>
                        <a:t>שלב 8 – אבטחה והקשחת המערכת</a:t>
                      </a:r>
                      <a:endParaRPr lang="he-IL" sz="140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553563585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b="1">
                          <a:solidFill>
                            <a:schemeClr val="tx2"/>
                          </a:solidFill>
                        </a:rPr>
                        <a:t>שלב 9 – שיפור חוויית המשתמש</a:t>
                      </a:r>
                      <a:endParaRPr lang="he-IL" sz="140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53536568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b="1" dirty="0">
                          <a:solidFill>
                            <a:schemeClr val="tx2"/>
                          </a:solidFill>
                        </a:rPr>
                        <a:t>שלב 10 – בדיקות ואופטימיזציה</a:t>
                      </a:r>
                      <a:endParaRPr lang="he-IL" sz="14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15836597"/>
                  </a:ext>
                </a:extLst>
              </a:tr>
            </a:tbl>
          </a:graphicData>
        </a:graphic>
      </p:graphicFrame>
      <p:graphicFrame>
        <p:nvGraphicFramePr>
          <p:cNvPr id="7" name="טבלה 6">
            <a:extLst>
              <a:ext uri="{FF2B5EF4-FFF2-40B4-BE49-F238E27FC236}">
                <a16:creationId xmlns:a16="http://schemas.microsoft.com/office/drawing/2014/main" id="{2B82EB67-C9A2-471F-BE44-C1F6268C7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994942"/>
              </p:ext>
            </p:extLst>
          </p:nvPr>
        </p:nvGraphicFramePr>
        <p:xfrm>
          <a:off x="272374" y="1679613"/>
          <a:ext cx="6125183" cy="349877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6125183">
                  <a:extLst>
                    <a:ext uri="{9D8B030D-6E8A-4147-A177-3AD203B41FA5}">
                      <a16:colId xmlns:a16="http://schemas.microsoft.com/office/drawing/2014/main" val="943566967"/>
                    </a:ext>
                  </a:extLst>
                </a:gridCol>
              </a:tblGrid>
              <a:tr h="18509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b="1" u="sng" dirty="0">
                          <a:solidFill>
                            <a:schemeClr val="tx2"/>
                          </a:solidFill>
                        </a:rPr>
                        <a:t>מה בוצע</a:t>
                      </a:r>
                      <a:endParaRPr lang="he-IL" sz="1400" b="1" u="sng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874289519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dirty="0">
                          <a:solidFill>
                            <a:schemeClr val="tx2"/>
                          </a:solidFill>
                        </a:rPr>
                        <a:t>הוקמה ארכיטקטורת המערכת, מסדי הנתונים ומנגנון ניהול המשתמשים.</a:t>
                      </a:r>
                      <a:endParaRPr lang="he-IL" sz="14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415526279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dirty="0">
                          <a:solidFill>
                            <a:schemeClr val="tx2"/>
                          </a:solidFill>
                        </a:rPr>
                        <a:t>פותח מנגנון מאובטח לניהול משתמשים, פרופילים ופרטי התחברות.</a:t>
                      </a:r>
                      <a:endParaRPr lang="he-IL" sz="14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22333319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dirty="0">
                          <a:solidFill>
                            <a:schemeClr val="tx2"/>
                          </a:solidFill>
                        </a:rPr>
                        <a:t>פותח מנגנון להוספה, עריכה, מחיקה וקטלוג של שירותים דיגיטליים.</a:t>
                      </a:r>
                      <a:endParaRPr lang="he-IL" sz="14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808436060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dirty="0">
                          <a:solidFill>
                            <a:schemeClr val="tx2"/>
                          </a:solidFill>
                        </a:rPr>
                        <a:t>נוספה אפשרות לארגון השירותים לפי קטגוריות אישיות ומובנות.</a:t>
                      </a:r>
                      <a:endParaRPr lang="he-IL" sz="14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486802105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dirty="0">
                          <a:solidFill>
                            <a:schemeClr val="tx2"/>
                          </a:solidFill>
                        </a:rPr>
                        <a:t>פותח מנגנון לניווט ופתיחת שירותים בצורה חכמה מתוך המערכת.</a:t>
                      </a:r>
                      <a:endParaRPr lang="he-IL" sz="14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230699579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dirty="0">
                          <a:solidFill>
                            <a:schemeClr val="tx2"/>
                          </a:solidFill>
                        </a:rPr>
                        <a:t>פותחו מנגנוני זיהוי ומילוי אוטומטי של טפסי התחברות נתמכים.</a:t>
                      </a:r>
                      <a:endParaRPr lang="he-IL" sz="14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43879882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dirty="0">
                          <a:solidFill>
                            <a:schemeClr val="tx2"/>
                          </a:solidFill>
                        </a:rPr>
                        <a:t>פותח פורטל ניהול לניהול משתמשים, שירותים ובקרת המערכת.</a:t>
                      </a:r>
                      <a:endParaRPr lang="he-IL" sz="14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508666444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dirty="0">
                          <a:solidFill>
                            <a:schemeClr val="tx2"/>
                          </a:solidFill>
                        </a:rPr>
                        <a:t>יושמו מנגנוני הצפנה, הרשאות ואבטחת מידע להגנה על נתוני המשתמשים.</a:t>
                      </a:r>
                      <a:endParaRPr lang="he-IL" sz="14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830134436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dirty="0">
                          <a:solidFill>
                            <a:schemeClr val="tx2"/>
                          </a:solidFill>
                        </a:rPr>
                        <a:t>שופר ממשק המשתמש ונבנתה חוויית עבודה נוחה המותאמת לעבודה מהמחשב.</a:t>
                      </a:r>
                      <a:endParaRPr lang="he-IL" sz="14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33302824"/>
                  </a:ext>
                </a:extLst>
              </a:tr>
              <a:tr h="323914">
                <a:tc>
                  <a:txBody>
                    <a:bodyPr/>
                    <a:lstStyle/>
                    <a:p>
                      <a:pPr lvl="1" algn="r" rtl="1"/>
                      <a:r>
                        <a:rPr lang="he-IL" sz="1400" dirty="0">
                          <a:solidFill>
                            <a:schemeClr val="tx2"/>
                          </a:solidFill>
                        </a:rPr>
                        <a:t>בוצעו בדיקות מערכת, תיקוני תקלות ושיפורי ביצועים לקראת ההגשה.</a:t>
                      </a:r>
                      <a:endParaRPr lang="he-IL" sz="14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6273" marR="46273" marT="23137" marB="23137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29077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328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0C5E7FE-4783-4E98-B17C-FDEC00E9C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2960" y="428016"/>
            <a:ext cx="10013004" cy="1186774"/>
          </a:xfrm>
        </p:spPr>
        <p:txBody>
          <a:bodyPr>
            <a:normAutofit/>
          </a:bodyPr>
          <a:lstStyle/>
          <a:p>
            <a:r>
              <a:rPr lang="he-IL" sz="4400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טכנולוגיות וכלי פיתוח בהם השתמשתי</a:t>
            </a:r>
          </a:p>
        </p:txBody>
      </p:sp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FA0272B5-7EA1-480D-AF65-71D68DFC2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23559"/>
              </p:ext>
            </p:extLst>
          </p:nvPr>
        </p:nvGraphicFramePr>
        <p:xfrm>
          <a:off x="1157591" y="2042812"/>
          <a:ext cx="4938409" cy="4138383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938409">
                  <a:extLst>
                    <a:ext uri="{9D8B030D-6E8A-4147-A177-3AD203B41FA5}">
                      <a16:colId xmlns:a16="http://schemas.microsoft.com/office/drawing/2014/main" val="173155392"/>
                    </a:ext>
                  </a:extLst>
                </a:gridCol>
              </a:tblGrid>
              <a:tr h="312042">
                <a:tc>
                  <a:txBody>
                    <a:bodyPr/>
                    <a:lstStyle/>
                    <a:p>
                      <a:r>
                        <a:rPr lang="he-IL" sz="1600" b="1" u="sng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שימוש במערכת</a:t>
                      </a: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126689680"/>
                  </a:ext>
                </a:extLst>
              </a:tr>
              <a:tr h="547349">
                <a:tc>
                  <a:txBody>
                    <a:bodyPr/>
                    <a:lstStyle/>
                    <a:p>
                      <a:r>
                        <a:rPr lang="he-IL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פיתוח ממשק המשתמש (</a:t>
                      </a:r>
                      <a:r>
                        <a:rPr lang="en-US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Frontend) </a:t>
                      </a:r>
                      <a:r>
                        <a:rPr lang="he-IL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והמסכים של הבית הדיגיטלי.</a:t>
                      </a: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014359496"/>
                  </a:ext>
                </a:extLst>
              </a:tr>
              <a:tr h="312042">
                <a:tc>
                  <a:txBody>
                    <a:bodyPr/>
                    <a:lstStyle/>
                    <a:p>
                      <a:r>
                        <a:rPr lang="he-IL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פיתוח קוד יציב ומבוקר באמצעות טיפוסים.</a:t>
                      </a: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06239924"/>
                  </a:ext>
                </a:extLst>
              </a:tr>
              <a:tr h="312042">
                <a:tc>
                  <a:txBody>
                    <a:bodyPr/>
                    <a:lstStyle/>
                    <a:p>
                      <a:r>
                        <a:rPr lang="he-IL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סביבת פיתוח מהירה לבניית האפליקציה.</a:t>
                      </a: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595822572"/>
                  </a:ext>
                </a:extLst>
              </a:tr>
              <a:tr h="312042">
                <a:tc>
                  <a:txBody>
                    <a:bodyPr/>
                    <a:lstStyle/>
                    <a:p>
                      <a:r>
                        <a:rPr lang="he-IL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עיצוב </a:t>
                      </a:r>
                      <a:r>
                        <a:rPr lang="he-IL" sz="1300" dirty="0" err="1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רספונסיבי</a:t>
                      </a:r>
                      <a:r>
                        <a:rPr lang="he-IL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וממשק משתמש מודרני.</a:t>
                      </a: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691215384"/>
                  </a:ext>
                </a:extLst>
              </a:tr>
              <a:tr h="312042">
                <a:tc>
                  <a:txBody>
                    <a:bodyPr/>
                    <a:lstStyle/>
                    <a:p>
                      <a:r>
                        <a:rPr lang="he-IL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רכיבי ממשק משתמש מתקדמים ואחידים.</a:t>
                      </a: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083292790"/>
                  </a:ext>
                </a:extLst>
              </a:tr>
              <a:tr h="547349">
                <a:tc>
                  <a:txBody>
                    <a:bodyPr/>
                    <a:lstStyle/>
                    <a:p>
                      <a:r>
                        <a:rPr lang="he-IL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מסד נתונים, אימות משתמשים (</a:t>
                      </a:r>
                      <a:r>
                        <a:rPr lang="en-US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Authentication) </a:t>
                      </a:r>
                      <a:r>
                        <a:rPr lang="he-IL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ושירותי </a:t>
                      </a:r>
                      <a:r>
                        <a:rPr lang="en-US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Backend.</a:t>
                      </a: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63874462"/>
                  </a:ext>
                </a:extLst>
              </a:tr>
              <a:tr h="312042">
                <a:tc>
                  <a:txBody>
                    <a:bodyPr/>
                    <a:lstStyle/>
                    <a:p>
                      <a:r>
                        <a:rPr lang="he-IL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מסד הנתונים </a:t>
                      </a:r>
                      <a:r>
                        <a:rPr lang="he-IL" sz="1300" dirty="0" err="1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הרלציוני</a:t>
                      </a:r>
                      <a:r>
                        <a:rPr lang="he-IL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עליו מבוססת </a:t>
                      </a:r>
                      <a:r>
                        <a:rPr lang="en-US" sz="1300" dirty="0" err="1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Supabase</a:t>
                      </a:r>
                      <a:r>
                        <a:rPr lang="en-US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.</a:t>
                      </a: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565653504"/>
                  </a:ext>
                </a:extLst>
              </a:tr>
              <a:tr h="312042">
                <a:tc>
                  <a:txBody>
                    <a:bodyPr/>
                    <a:lstStyle/>
                    <a:p>
                      <a:r>
                        <a:rPr lang="he-IL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פיתוח תוסף הדפדפן והאינטגרציה עם אתרי האינטרנט.</a:t>
                      </a: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651645730"/>
                  </a:ext>
                </a:extLst>
              </a:tr>
              <a:tr h="547349">
                <a:tc>
                  <a:txBody>
                    <a:bodyPr/>
                    <a:lstStyle/>
                    <a:p>
                      <a:r>
                        <a:rPr lang="he-IL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מנגנוני הצפנה ואבטחת מידע להגנה על נתוני המשתמשים.</a:t>
                      </a: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179858509"/>
                  </a:ext>
                </a:extLst>
              </a:tr>
              <a:tr h="312042">
                <a:tc>
                  <a:txBody>
                    <a:bodyPr/>
                    <a:lstStyle/>
                    <a:p>
                      <a:r>
                        <a:rPr lang="he-IL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סיוע בפיתוח, כתיבת קוד ובדיקות לאורך הפרויקט.</a:t>
                      </a: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948237512"/>
                  </a:ext>
                </a:extLst>
              </a:tr>
            </a:tbl>
          </a:graphicData>
        </a:graphic>
      </p:graphicFrame>
      <p:graphicFrame>
        <p:nvGraphicFramePr>
          <p:cNvPr id="8" name="טבלה 7">
            <a:extLst>
              <a:ext uri="{FF2B5EF4-FFF2-40B4-BE49-F238E27FC236}">
                <a16:creationId xmlns:a16="http://schemas.microsoft.com/office/drawing/2014/main" id="{2197D5C3-F0E8-420F-B050-A46650F3C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931396"/>
              </p:ext>
            </p:extLst>
          </p:nvPr>
        </p:nvGraphicFramePr>
        <p:xfrm>
          <a:off x="6096000" y="2042812"/>
          <a:ext cx="3660843" cy="4138383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660843">
                  <a:extLst>
                    <a:ext uri="{9D8B030D-6E8A-4147-A177-3AD203B41FA5}">
                      <a16:colId xmlns:a16="http://schemas.microsoft.com/office/drawing/2014/main" val="1839760800"/>
                    </a:ext>
                  </a:extLst>
                </a:gridCol>
              </a:tblGrid>
              <a:tr h="312042">
                <a:tc>
                  <a:txBody>
                    <a:bodyPr/>
                    <a:lstStyle/>
                    <a:p>
                      <a:r>
                        <a:rPr lang="he-IL" sz="1600" b="1" u="sng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כלי</a:t>
                      </a: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764364576"/>
                  </a:ext>
                </a:extLst>
              </a:tr>
              <a:tr h="547349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React</a:t>
                      </a:r>
                      <a:endParaRPr lang="en-US" sz="13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5186633"/>
                  </a:ext>
                </a:extLst>
              </a:tr>
              <a:tr h="312042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TypeScript</a:t>
                      </a:r>
                      <a:endParaRPr lang="en-US" sz="13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531521308"/>
                  </a:ext>
                </a:extLst>
              </a:tr>
              <a:tr h="312042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 err="1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Vite</a:t>
                      </a:r>
                      <a:endParaRPr lang="en-US" sz="13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240189735"/>
                  </a:ext>
                </a:extLst>
              </a:tr>
              <a:tr h="312042">
                <a:tc>
                  <a:txBody>
                    <a:bodyPr/>
                    <a:lstStyle/>
                    <a:p>
                      <a:pPr algn="ctr"/>
                      <a:r>
                        <a:rPr lang="he-IL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Tailwind CSS</a:t>
                      </a:r>
                      <a:endParaRPr lang="en-US" sz="13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648655162"/>
                  </a:ext>
                </a:extLst>
              </a:tr>
              <a:tr h="312042">
                <a:tc>
                  <a:txBody>
                    <a:bodyPr/>
                    <a:lstStyle/>
                    <a:p>
                      <a:pPr algn="ctr"/>
                      <a:r>
                        <a:rPr lang="he-IL" sz="1300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Shadcn</a:t>
                      </a: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/UI</a:t>
                      </a:r>
                      <a:endParaRPr lang="en-US" sz="13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062498411"/>
                  </a:ext>
                </a:extLst>
              </a:tr>
              <a:tr h="547349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 err="1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Supabae</a:t>
                      </a:r>
                      <a:endParaRPr lang="en-US" sz="13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962320672"/>
                  </a:ext>
                </a:extLst>
              </a:tr>
              <a:tr h="312042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PostgreSQL</a:t>
                      </a:r>
                      <a:endParaRPr lang="en-US" sz="13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154938294"/>
                  </a:ext>
                </a:extLst>
              </a:tr>
              <a:tr h="312042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Chrome Extension API</a:t>
                      </a:r>
                      <a:endParaRPr lang="en-US" sz="13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772057"/>
                  </a:ext>
                </a:extLst>
              </a:tr>
              <a:tr h="547349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Encryption &amp; Security</a:t>
                      </a:r>
                      <a:endParaRPr lang="en-US" sz="13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127374944"/>
                  </a:ext>
                </a:extLst>
              </a:tr>
              <a:tr h="312042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Cursor AI</a:t>
                      </a:r>
                      <a:endParaRPr lang="en-US" sz="1300" dirty="0">
                        <a:solidFill>
                          <a:schemeClr val="tx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4608" marR="64608" marT="32304" marB="32304" anchor="ctr"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540680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449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31F3C02-CFA4-499F-B845-DDE11A843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218" y="1525415"/>
            <a:ext cx="9057195" cy="1783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e-IL" altLang="he-IL" sz="4800" b="1" cap="all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הבית הדיגיטלי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e-IL" altLang="he-IL" sz="2200" b="1" cap="all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הדרך</a:t>
            </a:r>
            <a:r>
              <a:rPr kumimoji="0" lang="he-IL" altLang="he-IL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e-IL" altLang="he-IL" sz="2200" b="1" cap="all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החכמה לנהל את כל החיים הדיגיטליים מהמחשב.</a:t>
            </a:r>
          </a:p>
          <a:p>
            <a:pPr lvl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he-IL" altLang="he-IL" sz="2200" b="1" cap="all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כל השירותים. כל החשבונות. מקום אחד.</a:t>
            </a:r>
            <a:endParaRPr kumimoji="0" lang="he-IL" altLang="he-IL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6828EA4-CBED-4EBA-A549-D9ADA88D1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4877" y="5040873"/>
            <a:ext cx="6754238" cy="1275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e-IL" altLang="he-IL" sz="4800" b="1" cap="all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תודה על ההקשבה</a:t>
            </a:r>
          </a:p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e-IL" altLang="he-IL" sz="2200" b="1" cap="all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יעל </a:t>
            </a:r>
            <a:r>
              <a:rPr lang="he-IL" altLang="he-IL" sz="2200" b="1" cap="all" dirty="0" err="1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שיינברג</a:t>
            </a:r>
            <a:endParaRPr lang="he-IL" altLang="he-IL" sz="2200" b="1" cap="all" dirty="0">
              <a:solidFill>
                <a:schemeClr val="tx2">
                  <a:lumMod val="75000"/>
                </a:schemeClr>
              </a:solidFill>
              <a:latin typeface="Segoe UI" panose="020B0502040204020203" pitchFamily="34" charset="0"/>
              <a:ea typeface="+mj-ea"/>
              <a:cs typeface="Segoe UI" panose="020B0502040204020203" pitchFamily="34" charset="0"/>
            </a:endParaRP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234A44A2-D10C-473B-9EE9-EB4B47027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844315">
            <a:off x="-582529" y="4795201"/>
            <a:ext cx="2650617" cy="176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80779"/>
      </p:ext>
    </p:extLst>
  </p:cSld>
  <p:clrMapOvr>
    <a:masterClrMapping/>
  </p:clrMapOvr>
</p:sld>
</file>

<file path=ppt/theme/theme1.xml><?xml version="1.0" encoding="utf-8"?>
<a:theme xmlns:a="http://schemas.openxmlformats.org/drawingml/2006/main" name="טיפה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{0A990F21-2A91-4138-A870-BBB99F504215}TF62d0d592-7ac2-4846-a919-75806e8bead4445e6e6c-8f512cf861d3</Template>
  <TotalTime>437</TotalTime>
  <Words>742</Words>
  <Application>Microsoft Office PowerPoint</Application>
  <PresentationFormat>מסך רחב</PresentationFormat>
  <Paragraphs>88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3" baseType="lpstr">
      <vt:lpstr>Arial</vt:lpstr>
      <vt:lpstr>Segoe UI</vt:lpstr>
      <vt:lpstr>Tw Cen MT</vt:lpstr>
      <vt:lpstr>Wingdings</vt:lpstr>
      <vt:lpstr>טיפה</vt:lpstr>
      <vt:lpstr>הבית הדיגיטלי הבית הדיגיטלי הוא פלטפורמה המרכזת את הגישה לכל השירותים הדיגיטליים במקום אחד, באמצעות המחשב.</vt:lpstr>
      <vt:lpstr> האתגר בעולם הדיגיטלי</vt:lpstr>
      <vt:lpstr>הבית הדיגיטלי - הפתרון </vt:lpstr>
      <vt:lpstr>הבית הדיגיטלי - אבטחה </vt:lpstr>
      <vt:lpstr>למי מיועד הבית הדיגיטלי? </vt:lpstr>
      <vt:lpstr>פאזות עיקריות בפיתוח</vt:lpstr>
      <vt:lpstr>טכנולוגיות וכלי פיתוח בהם השתמשתי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הבית הדיגיטלי הבית הדיגיטלי הוא פלטפורמה המרכזת את הגישה לכל השירותים הדיגיטליים במקום אחד, באמצעות המחשב.</dc:title>
  <dc:creator>יעל לוי</dc:creator>
  <cp:lastModifiedBy>יעל לוי</cp:lastModifiedBy>
  <cp:revision>16</cp:revision>
  <dcterms:created xsi:type="dcterms:W3CDTF">2026-07-15T06:10:51Z</dcterms:created>
  <dcterms:modified xsi:type="dcterms:W3CDTF">2026-07-15T18:28:09Z</dcterms:modified>
</cp:coreProperties>
</file>